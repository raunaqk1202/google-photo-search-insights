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731520" cy="7315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731520" cy="7315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731520" cy="73152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0" y="1371600"/>
            <a:ext cx="731520" cy="7315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04040"/>
                </a:solidFill>
                <a:latin typeface="Calibri"/>
              </a:defRPr>
            </a:pPr>
            <a:r>
              <a:t>Google Photos AI Discovery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404040"/>
                </a:solidFill>
                <a:latin typeface="Calibri"/>
              </a:defRPr>
            </a:pPr>
            <a:r>
              <a:t>Engine Workflow, Scoring Algorithm, and Key Opportunities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77724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404040"/>
                </a:solidFill>
              </a:defRPr>
            </a:pPr>
            <a:r>
              <a:t>1,982</a:t>
            </a:r>
          </a:p>
          <a:p>
            <a:pPr algn="ctr">
              <a:defRPr sz="1600" b="1">
                <a:solidFill>
                  <a:srgbClr val="404040"/>
                </a:solidFill>
              </a:defRPr>
            </a:pPr>
            <a:r>
              <a:t>Reviews Scraped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463040"/>
            <a:ext cx="77724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404040"/>
                </a:solidFill>
              </a:defRPr>
            </a:pPr>
            <a:r>
              <a:t>507</a:t>
            </a:r>
          </a:p>
          <a:p>
            <a:pPr algn="ctr">
              <a:defRPr sz="1600" b="1">
                <a:solidFill>
                  <a:srgbClr val="404040"/>
                </a:solidFill>
              </a:defRPr>
            </a:pPr>
            <a:r>
              <a:t>Classified Reviews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286000"/>
            <a:ext cx="29260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404040"/>
                </a:solidFill>
              </a:defRPr>
            </a:pPr>
            <a:r>
              <a:t>114</a:t>
            </a:r>
          </a:p>
          <a:p>
            <a:pPr algn="ctr">
              <a:defRPr sz="1600" b="1">
                <a:solidFill>
                  <a:srgbClr val="404040"/>
                </a:solidFill>
              </a:defRPr>
            </a:pPr>
            <a:r>
              <a:t>Play Store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286000"/>
            <a:ext cx="29260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404040"/>
                </a:solidFill>
              </a:defRPr>
            </a:pPr>
            <a:r>
              <a:t>800</a:t>
            </a:r>
          </a:p>
          <a:p>
            <a:pPr algn="ctr">
              <a:defRPr sz="1600" b="1">
                <a:solidFill>
                  <a:srgbClr val="404040"/>
                </a:solidFill>
              </a:defRPr>
            </a:pPr>
            <a:r>
              <a:t>YouTube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286000"/>
            <a:ext cx="29260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404040"/>
                </a:solidFill>
              </a:defRPr>
            </a:pPr>
            <a:r>
              <a:t>32</a:t>
            </a:r>
          </a:p>
          <a:p>
            <a:pPr algn="ctr">
              <a:defRPr sz="1600" b="1">
                <a:solidFill>
                  <a:srgbClr val="404040"/>
                </a:solidFill>
              </a:defRPr>
            </a:pPr>
            <a:r>
              <a:t>App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0" y="2286000"/>
            <a:ext cx="29260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404040"/>
                </a:solidFill>
              </a:defRPr>
            </a:pPr>
            <a:r>
              <a:t>826</a:t>
            </a:r>
          </a:p>
          <a:p>
            <a:pPr algn="ctr">
              <a:defRPr sz="1600" b="1">
                <a:solidFill>
                  <a:srgbClr val="404040"/>
                </a:solidFill>
              </a:defRPr>
            </a:pPr>
            <a:r>
              <a:t>Reddit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81760" y="2286000"/>
            <a:ext cx="29260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404040"/>
                </a:solidFill>
              </a:defRPr>
            </a:pPr>
            <a:r>
              <a:t>210</a:t>
            </a:r>
          </a:p>
          <a:p>
            <a:pPr algn="ctr">
              <a:defRPr sz="1600" b="1">
                <a:solidFill>
                  <a:srgbClr val="404040"/>
                </a:solidFill>
              </a:defRPr>
            </a:pPr>
            <a:r>
              <a:t>Google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285F4"/>
                </a:solidFill>
                <a:latin typeface="Calibri"/>
              </a:defRPr>
            </a:pPr>
            <a:r>
              <a:t>Engine Workflow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49039"/>
            <a:ext cx="5029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404040"/>
                </a:solidFill>
              </a:defRPr>
            </a:pPr>
            <a:r>
              <a:t>1. Data Scraping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Scrape user feedback (Play Store, Reddit, etc.)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246120" y="4617719"/>
            <a:ext cx="365760" cy="274320"/>
          </a:xfrm>
          <a:prstGeom prst="down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937759"/>
            <a:ext cx="5029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404040"/>
                </a:solidFill>
              </a:defRPr>
            </a:pPr>
            <a:r>
              <a:t>2. Data Structuring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Clean and format unstructured text data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246120" y="5806439"/>
            <a:ext cx="365760" cy="274320"/>
          </a:xfrm>
          <a:prstGeom prst="down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6126479"/>
            <a:ext cx="5029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404040"/>
                </a:solidFill>
              </a:defRPr>
            </a:pPr>
            <a:r>
              <a:t>3. AI Analysis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LLM categorization of failure modes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246120" y="6995159"/>
            <a:ext cx="365760" cy="274320"/>
          </a:xfrm>
          <a:prstGeom prst="down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7315200"/>
            <a:ext cx="5029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404040"/>
                </a:solidFill>
              </a:defRPr>
            </a:pPr>
            <a:r>
              <a:t>4. Database Storage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PostgreSQL storage with vector embeddings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3246120" y="8183880"/>
            <a:ext cx="365760" cy="274320"/>
          </a:xfrm>
          <a:prstGeom prst="down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8503920"/>
            <a:ext cx="5029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404040"/>
                </a:solidFill>
              </a:defRPr>
            </a:pPr>
            <a:r>
              <a:t>5. RAG Pipeline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Groq-powered conversational UX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A4335"/>
                </a:solidFill>
                <a:latin typeface="Calibri"/>
              </a:defRPr>
            </a:pPr>
            <a:r>
              <a:t>Scoring Algorithm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749039"/>
            <a:ext cx="5029200" cy="5577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900">
                <a:solidFill>
                  <a:srgbClr val="404040"/>
                </a:solidFill>
                <a:latin typeface="Calibri"/>
              </a:defRPr>
            </a:pPr>
            <a:r>
              <a:t>Prioritizes product opportunities based on a 0-100 score:</a:t>
            </a:r>
          </a:p>
          <a:p>
            <a:pPr>
              <a:defRPr sz="1900">
                <a:solidFill>
                  <a:srgbClr val="404040"/>
                </a:solidFill>
                <a:latin typeface="Calibri"/>
              </a:defRPr>
            </a:pPr>
          </a:p>
          <a:p>
            <a:pPr>
              <a:defRPr sz="1900" b="1">
                <a:solidFill>
                  <a:srgbClr val="EA4335"/>
                </a:solidFill>
                <a:latin typeface="Calibri"/>
              </a:defRPr>
            </a:pPr>
            <a:r>
              <a:t>Component Weights:</a:t>
            </a:r>
          </a:p>
          <a:p>
            <a:pPr>
              <a:defRPr sz="1900">
                <a:solidFill>
                  <a:srgbClr val="404040"/>
                </a:solidFill>
                <a:latin typeface="Calibri"/>
              </a:defRPr>
            </a:pPr>
            <a:r>
              <a:t>• 35% Reach Score (estimated frequency)</a:t>
            </a:r>
          </a:p>
          <a:p>
            <a:pPr>
              <a:defRPr sz="1900">
                <a:solidFill>
                  <a:srgbClr val="404040"/>
                </a:solidFill>
                <a:latin typeface="Calibri"/>
              </a:defRPr>
            </a:pPr>
            <a:r>
              <a:t>• 30% User Pain Score</a:t>
            </a:r>
          </a:p>
          <a:p>
            <a:pPr>
              <a:defRPr sz="1900">
                <a:solidFill>
                  <a:srgbClr val="404040"/>
                </a:solidFill>
                <a:latin typeface="Calibri"/>
              </a:defRPr>
            </a:pPr>
            <a:r>
              <a:t>• 20% Business Impact Score</a:t>
            </a:r>
          </a:p>
          <a:p>
            <a:pPr>
              <a:defRPr sz="1900">
                <a:solidFill>
                  <a:srgbClr val="404040"/>
                </a:solidFill>
                <a:latin typeface="Calibri"/>
              </a:defRPr>
            </a:pPr>
            <a:r>
              <a:t>• 15% Evidence Strength</a:t>
            </a:r>
          </a:p>
          <a:p>
            <a:pPr>
              <a:defRPr sz="1900">
                <a:solidFill>
                  <a:srgbClr val="404040"/>
                </a:solidFill>
                <a:latin typeface="Calibri"/>
              </a:defRPr>
            </a:pPr>
          </a:p>
          <a:p>
            <a:pPr>
              <a:defRPr sz="1900" b="1">
                <a:solidFill>
                  <a:srgbClr val="EA4335"/>
                </a:solidFill>
                <a:latin typeface="Calibri"/>
              </a:defRPr>
            </a:pPr>
            <a:r>
              <a:t>Extraction Method:</a:t>
            </a:r>
          </a:p>
          <a:p>
            <a:pPr>
              <a:defRPr sz="1900">
                <a:solidFill>
                  <a:srgbClr val="404040"/>
                </a:solidFill>
                <a:latin typeface="Calibri"/>
              </a:defRPr>
            </a:pPr>
            <a:r>
              <a:t>All component scores (1.0-5.0) are evaluated and assigned by the LLM based on user feedback.</a:t>
            </a:r>
          </a:p>
          <a:p>
            <a:pPr>
              <a:defRPr sz="1900">
                <a:solidFill>
                  <a:srgbClr val="404040"/>
                </a:solidFill>
                <a:latin typeface="Calibri"/>
              </a:defRPr>
            </a:pPr>
          </a:p>
          <a:p>
            <a:pPr>
              <a:defRPr sz="1900" b="1">
                <a:solidFill>
                  <a:srgbClr val="EA4335"/>
                </a:solidFill>
                <a:latin typeface="Calibri"/>
              </a:defRPr>
            </a:pPr>
            <a:r>
              <a:t>Final Score Calculation:</a:t>
            </a:r>
          </a:p>
          <a:p>
            <a:pPr>
              <a:defRPr sz="1900">
                <a:solidFill>
                  <a:srgbClr val="404040"/>
                </a:solidFill>
                <a:latin typeface="Calibri"/>
              </a:defRPr>
            </a:pPr>
            <a:r>
              <a:t>Raw Score = Weighted sum of components</a:t>
            </a:r>
          </a:p>
          <a:p>
            <a:pPr>
              <a:defRPr sz="1900">
                <a:solidFill>
                  <a:srgbClr val="404040"/>
                </a:solidFill>
                <a:latin typeface="Calibri"/>
              </a:defRPr>
            </a:pPr>
            <a:r>
              <a:t>Score = (Raw Score - 1.0) * 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0" y="3108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A853"/>
                </a:solidFill>
                <a:latin typeface="Calibri"/>
              </a:defRPr>
            </a:pPr>
            <a:r>
              <a:t>Important Opportunities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0" y="3749039"/>
            <a:ext cx="731520" cy="10058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618720" y="3749039"/>
            <a:ext cx="475488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b="1" sz="2000">
                <a:solidFill>
                  <a:srgbClr val="4285F4"/>
                </a:solidFill>
                <a:latin typeface="Calibri"/>
              </a:defRPr>
            </a:pPr>
            <a:r>
              <a:t>Result Ranking Failure</a:t>
            </a:r>
          </a:p>
          <a:p>
            <a:pPr>
              <a:defRPr sz="1700">
                <a:solidFill>
                  <a:srgbClr val="404040"/>
                </a:solidFill>
                <a:latin typeface="Calibri"/>
              </a:defRPr>
            </a:pPr>
            <a:r>
              <a:t>Relevant photos may exist but are difficult to recognize among results. The sheer volume of matches overwhelms the user's ability to spot their target.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7200" y="4892040"/>
            <a:ext cx="731520" cy="10058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618720" y="4892040"/>
            <a:ext cx="475488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b="1" sz="2000">
                <a:solidFill>
                  <a:srgbClr val="EA4335"/>
                </a:solidFill>
                <a:latin typeface="Calibri"/>
              </a:defRPr>
            </a:pPr>
            <a:r>
              <a:t>Person Ambiguity</a:t>
            </a:r>
          </a:p>
          <a:p>
            <a:pPr>
              <a:defRPr sz="1700">
                <a:solidFill>
                  <a:srgbClr val="404040"/>
                </a:solidFill>
                <a:latin typeface="Calibri"/>
              </a:defRPr>
            </a:pPr>
            <a:r>
              <a:t>The user remembers who was involved but cannot identify the person in a way the system can use. Sometimes faces are obscured, or the system hasn't tagged them correctly.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0" y="6035040"/>
            <a:ext cx="731520" cy="10058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618720" y="6035040"/>
            <a:ext cx="475488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b="1" sz="2000">
                <a:solidFill>
                  <a:srgbClr val="FBBC04"/>
                </a:solidFill>
                <a:latin typeface="Calibri"/>
              </a:defRPr>
            </a:pPr>
            <a:r>
              <a:t>Context Loss</a:t>
            </a:r>
          </a:p>
          <a:p>
            <a:pPr>
              <a:defRPr sz="1700">
                <a:solidFill>
                  <a:srgbClr val="404040"/>
                </a:solidFill>
                <a:latin typeface="Calibri"/>
              </a:defRPr>
            </a:pPr>
            <a:r>
              <a:t>The user remembers an event or story rather than searchable attributes of the image. The emotional context doesn't map well to objective image tags.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887200" y="7178040"/>
            <a:ext cx="7315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618720" y="7178040"/>
            <a:ext cx="475488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b="1" sz="2000">
                <a:solidFill>
                  <a:srgbClr val="34A853"/>
                </a:solidFill>
                <a:latin typeface="Calibri"/>
              </a:defRPr>
            </a:pPr>
            <a:r>
              <a:t>Search Strategy Failure</a:t>
            </a:r>
          </a:p>
          <a:p>
            <a:pPr>
              <a:defRPr sz="1700">
                <a:solidFill>
                  <a:srgbClr val="404040"/>
                </a:solidFill>
                <a:latin typeface="Calibri"/>
              </a:defRPr>
            </a:pPr>
            <a:r>
              <a:t>The user does not know which search mechanism or filter to use. They might default to a simple keyword search when a combination of filters would be more effective.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887200" y="8321040"/>
            <a:ext cx="731520" cy="10058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618720" y="8321040"/>
            <a:ext cx="475488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b="1" sz="2000">
                <a:solidFill>
                  <a:srgbClr val="4285F4"/>
                </a:solidFill>
                <a:latin typeface="Calibri"/>
              </a:defRPr>
            </a:pPr>
            <a:r>
              <a:t>Metadata Dependency</a:t>
            </a:r>
          </a:p>
          <a:p>
            <a:pPr>
              <a:defRPr sz="1700">
                <a:solidFill>
                  <a:srgbClr val="404040"/>
                </a:solidFill>
                <a:latin typeface="Calibri"/>
              </a:defRPr>
            </a:pPr>
            <a:r>
              <a:t>Successful retrieval depends on information the user no longer remembers. Metadata like exact dates or locations are easily forgotten by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