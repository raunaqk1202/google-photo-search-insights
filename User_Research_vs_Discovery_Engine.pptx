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0"/>
            <a:ext cx="640080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640080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636240" y="274320"/>
            <a:ext cx="502920" cy="50292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276320" y="274320"/>
            <a:ext cx="502920" cy="50292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16400" y="274320"/>
            <a:ext cx="502920" cy="50292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956280" y="822960"/>
            <a:ext cx="502920" cy="50292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596360" y="822960"/>
            <a:ext cx="502920" cy="50292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236440" y="822960"/>
            <a:ext cx="502920" cy="502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74320"/>
            <a:ext cx="12801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202124"/>
                </a:solidFill>
                <a:latin typeface="Calibri"/>
              </a:defRPr>
            </a:pPr>
            <a:r>
              <a:t>User Research vs. AI Discovery</a:t>
            </a:r>
            <a:br/>
            <a:r>
              <a:t>Engine: Key Comparisons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00200"/>
            <a:ext cx="12801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5F6368"/>
                </a:solidFill>
                <a:latin typeface="Calibri"/>
              </a:defRPr>
            </a:pPr>
            <a:r>
              <a:t>Validating qualitative survey insights (n=31) against</a:t>
            </a:r>
            <a:br/>
            <a:r>
              <a:t>1,982 scraped reviews analyzed by the AI discovery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697480"/>
            <a:ext cx="15672816" cy="640080"/>
          </a:xfrm>
          <a:prstGeom prst="round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26974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Insight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697480"/>
            <a:ext cx="5943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📋  User Research Survey (n=31)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2176" y="2697480"/>
            <a:ext cx="6217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🤖  AI Discovery Engine (1,982 reviews)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447288"/>
            <a:ext cx="548640" cy="1207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19072" y="3447288"/>
            <a:ext cx="2743200" cy="120700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2400" b="1">
                <a:solidFill>
                  <a:srgbClr val="4285F4"/>
                </a:solidFill>
                <a:latin typeface="Calibri"/>
              </a:defRPr>
            </a:pPr>
            <a:r>
              <a:t>Search Failure</a:t>
            </a:r>
            <a:br/>
            <a:r>
              <a:t>Rate</a:t>
            </a:r>
          </a:p>
          <a:p>
            <a:pPr>
              <a:spcBef>
                <a:spcPts val="600"/>
              </a:spcBef>
              <a:defRPr sz="2200" b="0">
                <a:solidFill>
                  <a:srgbClr val="202124"/>
                </a:solidFill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4535424" y="3447288"/>
            <a:ext cx="59436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61.3% (19/31) experienced complete initial search failure—unrelated photos, near-misses, or zero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52176" y="3447288"/>
            <a:ext cx="6217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Result Ranking Failure scored 61.9/100; Metadata Dependency scored 68.9/100 — top 2 ranked opportunities across 507 classified reviews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745736"/>
            <a:ext cx="548640" cy="1207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19072" y="4745736"/>
            <a:ext cx="2743200" cy="1207008"/>
          </a:xfrm>
          <a:prstGeom prst="round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2400" b="1">
                <a:solidFill>
                  <a:srgbClr val="EA4335"/>
                </a:solidFill>
                <a:latin typeface="Calibri"/>
              </a:defRPr>
            </a:pPr>
            <a:r>
              <a:t>Document</a:t>
            </a:r>
            <a:br/>
            <a:r>
              <a:t>Search</a:t>
            </a:r>
          </a:p>
          <a:p>
            <a:pPr>
              <a:spcBef>
                <a:spcPts val="600"/>
              </a:spcBef>
              <a:defRPr sz="2200" b="0">
                <a:solidFill>
                  <a:srgbClr val="202124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4535424" y="4745736"/>
            <a:ext cx="59436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57.1% (4/7) of document searches returned completely unrelated photos; 0% yielded accurate top-ranked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52176" y="4745736"/>
            <a:ext cx="6217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OCR Indexing for Receipts &amp; Documents identified as a distinct failure mode from 1,982 scraped reviews across 5 channels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6044184"/>
            <a:ext cx="548640" cy="1207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719072" y="6044184"/>
            <a:ext cx="2743200" cy="1207008"/>
          </a:xfrm>
          <a:prstGeom prst="round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2400" b="1">
                <a:solidFill>
                  <a:srgbClr val="FBBC05"/>
                </a:solidFill>
                <a:latin typeface="Calibri"/>
              </a:defRPr>
            </a:pPr>
            <a:r>
              <a:t>Person &amp;</a:t>
            </a:r>
            <a:br/>
            <a:r>
              <a:t>Group Photos</a:t>
            </a:r>
          </a:p>
          <a:p>
            <a:pPr>
              <a:spcBef>
                <a:spcPts val="600"/>
              </a:spcBef>
              <a:defRPr sz="2200" b="0">
                <a:solidFill>
                  <a:srgbClr val="202124"/>
                </a:solidFill>
                <a:latin typeface="Calibr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4535424" y="6044184"/>
            <a:ext cx="59436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50.0% (4/8) received related people but not the specific photo—precision issues in facial indexing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52176" y="6044184"/>
            <a:ext cx="6217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Person Ambiguity scored 54.5/100 (Reach: 3.4/5, User Pain: 3.6/5); faces obscured or system mis-tagged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7342632"/>
            <a:ext cx="548640" cy="1207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19072" y="7342632"/>
            <a:ext cx="2743200" cy="1207008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2400" b="1">
                <a:solidFill>
                  <a:srgbClr val="34A853"/>
                </a:solidFill>
                <a:latin typeface="Calibri"/>
              </a:defRPr>
            </a:pPr>
            <a:r>
              <a:t>Memory</a:t>
            </a:r>
            <a:br/>
            <a:r>
              <a:t>Anchors</a:t>
            </a:r>
          </a:p>
          <a:p>
            <a:pPr>
              <a:spcBef>
                <a:spcPts val="600"/>
              </a:spcBef>
              <a:defRPr sz="2200" b="0">
                <a:solidFill>
                  <a:srgbClr val="202124"/>
                </a:solidFill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4535424" y="7342632"/>
            <a:ext cx="59436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Top recall cues: Location 54.8%, Document Content 32.3%, Date/Time 29.0%, Event Name 29.0%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52176" y="7342632"/>
            <a:ext cx="6217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Context Loss scored 54.8/100; Temporal Uncertainty &amp; Memory Failure captured as separate failure modes from user verbatims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8641080"/>
            <a:ext cx="548640" cy="1207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719072" y="8641080"/>
            <a:ext cx="2743200" cy="120700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defRPr sz="2400" b="1">
                <a:solidFill>
                  <a:srgbClr val="4285F4"/>
                </a:solidFill>
                <a:latin typeface="Calibri"/>
              </a:defRPr>
            </a:pPr>
            <a:r>
              <a:t>Recovery &amp;</a:t>
            </a:r>
            <a:br/>
            <a:r>
              <a:t>Abandonment</a:t>
            </a:r>
          </a:p>
          <a:p>
            <a:pPr>
              <a:spcBef>
                <a:spcPts val="600"/>
              </a:spcBef>
              <a:defRPr sz="2200" b="0">
                <a:solidFill>
                  <a:srgbClr val="202124"/>
                </a:solidFill>
                <a:latin typeface="Calibri"/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4535424" y="8641080"/>
            <a:ext cx="59436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52.6% (10/19) abandoned search for manual browsing; 31.6% (6/19) total abandonment—never found photo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52176" y="8641080"/>
            <a:ext cx="62179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/>
          <a:lstStyle/>
          <a:p>
            <a:pPr algn="ctr">
              <a:defRPr sz="2200">
                <a:solidFill>
                  <a:srgbClr val="202124"/>
                </a:solidFill>
                <a:latin typeface="Calibri"/>
              </a:defRPr>
            </a:pPr>
            <a:r>
              <a:t>Search Strategy Failure scored 62.8/100 (User Pain: 3.8/5); Query Translation Failure &amp; Vocabulary Mismatch also surfaced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9692640"/>
            <a:ext cx="1600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5F6368"/>
                </a:solidFill>
                <a:latin typeface="Calibri"/>
              </a:defRPr>
            </a:pPr>
            <a:r>
              <a:t>Sources: User Research Survey (n=31 respondents)  •  AI Discovery Engine (1,982 reviews from Play Store, YouTube, Reddit, App Store, Google Support)  •  507 classified reviews scored via 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