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914400" y="457200"/>
            <a:ext cx="16459200" cy="914400"/>
          </a:xfrm>
          <a:prstGeom prst="rect">
            <a:avLst/>
          </a:prstGeom>
          <a:noFill/>
        </p:spPr>
        <p:txBody>
          <a:bodyPr wrap="square">
            <a:spAutoFit/>
          </a:bodyPr>
          <a:lstStyle/>
          <a:p>
            <a:pPr algn="l">
              <a:defRPr sz="3200" b="1">
                <a:solidFill>
                  <a:srgbClr val="202124"/>
                </a:solidFill>
                <a:latin typeface="Calibri"/>
              </a:defRPr>
            </a:pPr>
            <a:r>
              <a:t>Google Photos | Core Experience | Improving Retrieval of Vaguely Remembered Photos</a:t>
            </a:r>
          </a:p>
        </p:txBody>
      </p:sp>
      <p:sp>
        <p:nvSpPr>
          <p:cNvPr id="3" name="TextBox 2"/>
          <p:cNvSpPr txBox="1"/>
          <p:nvPr/>
        </p:nvSpPr>
        <p:spPr>
          <a:xfrm>
            <a:off x="10058400" y="457200"/>
            <a:ext cx="7315200" cy="914400"/>
          </a:xfrm>
          <a:prstGeom prst="rect">
            <a:avLst/>
          </a:prstGeom>
          <a:noFill/>
        </p:spPr>
        <p:txBody>
          <a:bodyPr wrap="square">
            <a:spAutoFit/>
          </a:bodyPr>
          <a:lstStyle/>
          <a:p>
            <a:pPr algn="r">
              <a:defRPr sz="3200" b="1">
                <a:solidFill>
                  <a:srgbClr val="202124"/>
                </a:solidFill>
                <a:latin typeface="Calibri"/>
              </a:defRPr>
            </a:pPr>
            <a:r>
              <a:t>Business Metric Decomposition</a:t>
            </a:r>
          </a:p>
        </p:txBody>
      </p:sp>
      <p:sp>
        <p:nvSpPr>
          <p:cNvPr id="4" name="Rounded Rectangle 3"/>
          <p:cNvSpPr/>
          <p:nvPr/>
        </p:nvSpPr>
        <p:spPr>
          <a:xfrm>
            <a:off x="914400" y="1828800"/>
            <a:ext cx="3840480" cy="1828800"/>
          </a:xfrm>
          <a:prstGeom prst="round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000" b="1">
                <a:solidFill>
                  <a:srgbClr val="FFFFFF"/>
                </a:solidFill>
                <a:latin typeface="Calibri"/>
              </a:defRPr>
            </a:pPr>
            <a:r>
              <a:t>2B+</a:t>
            </a:r>
          </a:p>
          <a:p>
            <a:pPr algn="ctr">
              <a:defRPr sz="2400">
                <a:solidFill>
                  <a:srgbClr val="FFFFFF"/>
                </a:solidFill>
                <a:latin typeface="Calibri"/>
              </a:defRPr>
            </a:pPr>
            <a:r>
              <a:t>Monthly Active Users</a:t>
            </a:r>
          </a:p>
        </p:txBody>
      </p:sp>
      <p:sp>
        <p:nvSpPr>
          <p:cNvPr id="5" name="Rounded Rectangle 4"/>
          <p:cNvSpPr/>
          <p:nvPr/>
        </p:nvSpPr>
        <p:spPr>
          <a:xfrm>
            <a:off x="5029200" y="1828800"/>
            <a:ext cx="3840480" cy="1828800"/>
          </a:xfrm>
          <a:prstGeom prst="roundRect">
            <a:avLst/>
          </a:prstGeom>
          <a:solidFill>
            <a:srgbClr val="EA4335"/>
          </a:solidFill>
          <a:ln>
            <a:solidFill>
              <a:srgbClr val="EA433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000" b="1">
                <a:solidFill>
                  <a:srgbClr val="FFFFFF"/>
                </a:solidFill>
                <a:latin typeface="Calibri"/>
              </a:defRPr>
            </a:pPr>
            <a:r>
              <a:t>350M+</a:t>
            </a:r>
          </a:p>
          <a:p>
            <a:pPr algn="ctr">
              <a:defRPr sz="2200">
                <a:solidFill>
                  <a:srgbClr val="FFFFFF"/>
                </a:solidFill>
                <a:latin typeface="Calibri"/>
              </a:defRPr>
            </a:pPr>
            <a:r>
              <a:t>Google Subscriptions (Q1 2026)</a:t>
            </a:r>
          </a:p>
        </p:txBody>
      </p:sp>
      <p:sp>
        <p:nvSpPr>
          <p:cNvPr id="6" name="Rounded Rectangle 5"/>
          <p:cNvSpPr/>
          <p:nvPr/>
        </p:nvSpPr>
        <p:spPr>
          <a:xfrm>
            <a:off x="914400" y="3931920"/>
            <a:ext cx="3840480" cy="1828800"/>
          </a:xfrm>
          <a:prstGeom prst="roundRect">
            <a:avLst/>
          </a:prstGeom>
          <a:solidFill>
            <a:srgbClr val="FBBC05"/>
          </a:solidFill>
          <a:ln>
            <a:solidFill>
              <a:srgbClr val="FBBC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000" b="1">
                <a:solidFill>
                  <a:srgbClr val="FFFFFF"/>
                </a:solidFill>
                <a:latin typeface="Calibri"/>
              </a:defRPr>
            </a:pPr>
            <a:r>
              <a:t>370M+</a:t>
            </a:r>
          </a:p>
          <a:p>
            <a:pPr algn="ctr">
              <a:defRPr sz="2400">
                <a:solidFill>
                  <a:srgbClr val="FFFFFF"/>
                </a:solidFill>
                <a:latin typeface="Calibri"/>
              </a:defRPr>
            </a:pPr>
            <a:r>
              <a:t>Photo Searches Monthly</a:t>
            </a:r>
          </a:p>
        </p:txBody>
      </p:sp>
      <p:sp>
        <p:nvSpPr>
          <p:cNvPr id="7" name="Rounded Rectangle 6"/>
          <p:cNvSpPr/>
          <p:nvPr/>
        </p:nvSpPr>
        <p:spPr>
          <a:xfrm>
            <a:off x="5029200" y="3931920"/>
            <a:ext cx="3840480" cy="1828800"/>
          </a:xfrm>
          <a:prstGeom prst="roundRect">
            <a:avLst/>
          </a:prstGeom>
          <a:solidFill>
            <a:srgbClr val="34A853"/>
          </a:solidFill>
          <a:ln>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000" b="1">
                <a:solidFill>
                  <a:srgbClr val="FFFFFF"/>
                </a:solidFill>
                <a:latin typeface="Calibri"/>
              </a:defRPr>
            </a:pPr>
            <a:r>
              <a:t>9T+</a:t>
            </a:r>
          </a:p>
          <a:p>
            <a:pPr algn="ctr">
              <a:defRPr sz="2400">
                <a:solidFill>
                  <a:srgbClr val="FFFFFF"/>
                </a:solidFill>
                <a:latin typeface="Calibri"/>
              </a:defRPr>
            </a:pPr>
            <a:r>
              <a:t>Total Photos Stored</a:t>
            </a:r>
          </a:p>
        </p:txBody>
      </p:sp>
      <p:sp>
        <p:nvSpPr>
          <p:cNvPr id="8" name="Rounded Rectangle 7"/>
          <p:cNvSpPr/>
          <p:nvPr/>
        </p:nvSpPr>
        <p:spPr>
          <a:xfrm>
            <a:off x="914400" y="6035040"/>
            <a:ext cx="7955279" cy="1828800"/>
          </a:xfrm>
          <a:prstGeom prst="roundRect">
            <a:avLst/>
          </a:prstGeom>
          <a:solidFill>
            <a:srgbClr val="E8F0FE"/>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202124"/>
                </a:solidFill>
                <a:latin typeface="Calibri"/>
              </a:defRPr>
            </a:pPr>
            <a:r>
              <a:t>Google Photos Strategic Objective:</a:t>
            </a:r>
          </a:p>
          <a:p>
            <a:pPr algn="ctr">
              <a:defRPr sz="2200">
                <a:solidFill>
                  <a:srgbClr val="202124"/>
                </a:solidFill>
                <a:latin typeface="Calibri"/>
              </a:defRPr>
            </a:pPr>
            <a:r>
              <a:t>Increase the percentage of users who successfully retrieve a photo they remember but cannot precisely describe when they start searching.</a:t>
            </a:r>
          </a:p>
        </p:txBody>
      </p:sp>
      <p:sp>
        <p:nvSpPr>
          <p:cNvPr id="9" name="Rounded Rectangle 8"/>
          <p:cNvSpPr/>
          <p:nvPr/>
        </p:nvSpPr>
        <p:spPr>
          <a:xfrm>
            <a:off x="914400" y="8046720"/>
            <a:ext cx="7955279" cy="1645920"/>
          </a:xfrm>
          <a:prstGeom prst="roundRect">
            <a:avLst/>
          </a:prstGeom>
          <a:solidFill>
            <a:srgbClr val="FEEFC3"/>
          </a:solidFill>
          <a:ln>
            <a:solidFill>
              <a:srgbClr val="FBBC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202124"/>
                </a:solidFill>
                <a:latin typeface="Calibri"/>
              </a:defRPr>
            </a:pPr>
            <a:r>
              <a:t>Why this strategic objective matters?</a:t>
            </a:r>
          </a:p>
          <a:p>
            <a:pPr algn="ctr">
              <a:defRPr sz="2200">
                <a:solidFill>
                  <a:srgbClr val="202124"/>
                </a:solidFill>
                <a:latin typeface="Calibri"/>
              </a:defRPr>
            </a:pPr>
            <a:r>
              <a:t>Improving retrieval of vaguely remembered photos increases user trust. When users know they can find any memory effortlessly, they rely on Google Photos as their primary vault, organically driving Google One subscription upgrades due to storage limits.</a:t>
            </a:r>
          </a:p>
        </p:txBody>
      </p:sp>
      <p:sp>
        <p:nvSpPr>
          <p:cNvPr id="10" name="TextBox 9"/>
          <p:cNvSpPr txBox="1"/>
          <p:nvPr/>
        </p:nvSpPr>
        <p:spPr>
          <a:xfrm>
            <a:off x="914400" y="9784080"/>
            <a:ext cx="9144000" cy="457200"/>
          </a:xfrm>
          <a:prstGeom prst="rect">
            <a:avLst/>
          </a:prstGeom>
          <a:noFill/>
        </p:spPr>
        <p:txBody>
          <a:bodyPr wrap="square">
            <a:spAutoFit/>
          </a:bodyPr>
          <a:lstStyle/>
          <a:p>
            <a:pPr algn="l">
              <a:defRPr sz="1800" b="0">
                <a:solidFill>
                  <a:srgbClr val="5F6368"/>
                </a:solidFill>
                <a:latin typeface="Calibri"/>
              </a:defRPr>
            </a:pPr>
            <a:r>
              <a:t>Sources: Business Insider (2026), Business of Apps (2026), PetaPixel (2026)</a:t>
            </a:r>
          </a:p>
        </p:txBody>
      </p:sp>
      <p:sp>
        <p:nvSpPr>
          <p:cNvPr id="11" name="Rounded Rectangle 10"/>
          <p:cNvSpPr/>
          <p:nvPr/>
        </p:nvSpPr>
        <p:spPr>
          <a:xfrm>
            <a:off x="11658600" y="1371600"/>
            <a:ext cx="3657600" cy="1371600"/>
          </a:xfrm>
          <a:prstGeom prst="roundRect">
            <a:avLst/>
          </a:prstGeom>
          <a:solidFill>
            <a:srgbClr val="FFFFFF"/>
          </a:solidFill>
          <a:ln w="254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202124"/>
                </a:solidFill>
                <a:latin typeface="Calibri"/>
              </a:defRPr>
            </a:pPr>
            <a:r>
              <a:t>1. Metadata Dependency</a:t>
            </a:r>
            <a:br/>
            <a:r>
              <a:t>(Score: 68.9)</a:t>
            </a:r>
          </a:p>
        </p:txBody>
      </p:sp>
      <p:sp>
        <p:nvSpPr>
          <p:cNvPr id="12" name="Rounded Rectangle 11"/>
          <p:cNvSpPr/>
          <p:nvPr/>
        </p:nvSpPr>
        <p:spPr>
          <a:xfrm>
            <a:off x="9829800" y="4114800"/>
            <a:ext cx="3200400" cy="1371600"/>
          </a:xfrm>
          <a:prstGeom prst="roundRect">
            <a:avLst/>
          </a:prstGeom>
          <a:solidFill>
            <a:srgbClr val="FFFFFF"/>
          </a:solidFill>
          <a:ln w="25400">
            <a:solidFill>
              <a:srgbClr val="EA433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202124"/>
                </a:solidFill>
                <a:latin typeface="Calibri"/>
              </a:defRPr>
            </a:pPr>
            <a:r>
              <a:t>2. Search Strategy Failure</a:t>
            </a:r>
            <a:br/>
            <a:r>
              <a:t>(Score: 62.8)</a:t>
            </a:r>
          </a:p>
        </p:txBody>
      </p:sp>
      <p:sp>
        <p:nvSpPr>
          <p:cNvPr id="13" name="Rounded Rectangle 12"/>
          <p:cNvSpPr/>
          <p:nvPr/>
        </p:nvSpPr>
        <p:spPr>
          <a:xfrm>
            <a:off x="13944600" y="4114800"/>
            <a:ext cx="3200400" cy="1371600"/>
          </a:xfrm>
          <a:prstGeom prst="roundRect">
            <a:avLst/>
          </a:prstGeom>
          <a:solidFill>
            <a:srgbClr val="FFFFFF"/>
          </a:solidFill>
          <a:ln w="25400">
            <a:solidFill>
              <a:srgbClr val="FBBC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202124"/>
                </a:solidFill>
                <a:latin typeface="Calibri"/>
              </a:defRPr>
            </a:pPr>
            <a:r>
              <a:t>3. Result Ranking Failure</a:t>
            </a:r>
            <a:br/>
            <a:r>
              <a:t>(Score: 61.9)</a:t>
            </a:r>
          </a:p>
        </p:txBody>
      </p:sp>
      <p:cxnSp>
        <p:nvCxnSpPr>
          <p:cNvPr id="14" name="Connector 13"/>
          <p:cNvCxnSpPr/>
          <p:nvPr/>
        </p:nvCxnSpPr>
        <p:spPr>
          <a:xfrm flipH="1">
            <a:off x="11430000.0" y="2743200"/>
            <a:ext cx="2057400.0" cy="1371600"/>
          </a:xfrm>
          <a:prstGeom prst="line">
            <a:avLst/>
          </a:prstGeom>
          <a:ln w="25400">
            <a:solidFill>
              <a:srgbClr val="9A9CA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487400.0" y="2743200"/>
            <a:ext cx="2057400.0" cy="1371600"/>
          </a:xfrm>
          <a:prstGeom prst="line">
            <a:avLst/>
          </a:prstGeom>
          <a:ln w="25400">
            <a:solidFill>
              <a:srgbClr val="9A9CA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829800" y="6858000"/>
            <a:ext cx="3200400" cy="1371600"/>
          </a:xfrm>
          <a:prstGeom prst="roundRect">
            <a:avLst/>
          </a:prstGeom>
          <a:solidFill>
            <a:srgbClr val="FFFFFF"/>
          </a:solidFill>
          <a:ln w="2540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202124"/>
                </a:solidFill>
                <a:latin typeface="Calibri"/>
              </a:defRPr>
            </a:pPr>
            <a:r>
              <a:t>4. Context Loss</a:t>
            </a:r>
            <a:br/>
            <a:r>
              <a:t>(Score: 54.8)</a:t>
            </a:r>
          </a:p>
        </p:txBody>
      </p:sp>
      <p:sp>
        <p:nvSpPr>
          <p:cNvPr id="17" name="Rounded Rectangle 16"/>
          <p:cNvSpPr/>
          <p:nvPr/>
        </p:nvSpPr>
        <p:spPr>
          <a:xfrm>
            <a:off x="13944600" y="6858000"/>
            <a:ext cx="3200400" cy="1371600"/>
          </a:xfrm>
          <a:prstGeom prst="roundRect">
            <a:avLst/>
          </a:prstGeom>
          <a:solidFill>
            <a:srgbClr val="FFFFFF"/>
          </a:solidFill>
          <a:ln w="2540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202124"/>
                </a:solidFill>
                <a:latin typeface="Calibri"/>
              </a:defRPr>
            </a:pPr>
            <a:r>
              <a:t>5. Person Ambiguity</a:t>
            </a:r>
            <a:br/>
            <a:r>
              <a:t>(Score: 54.5)</a:t>
            </a:r>
          </a:p>
        </p:txBody>
      </p:sp>
      <p:cxnSp>
        <p:nvCxnSpPr>
          <p:cNvPr id="18" name="Connector 17"/>
          <p:cNvCxnSpPr/>
          <p:nvPr/>
        </p:nvCxnSpPr>
        <p:spPr>
          <a:xfrm>
            <a:off x="11430000.0" y="5486400"/>
            <a:ext cx="0.0" cy="1371600"/>
          </a:xfrm>
          <a:prstGeom prst="line">
            <a:avLst/>
          </a:prstGeom>
          <a:ln w="25400">
            <a:solidFill>
              <a:srgbClr val="9A9CA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5544800.0" y="5486400"/>
            <a:ext cx="0.0" cy="1371600"/>
          </a:xfrm>
          <a:prstGeom prst="line">
            <a:avLst/>
          </a:prstGeom>
          <a:ln w="25400">
            <a:solidFill>
              <a:srgbClr val="9A9CA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